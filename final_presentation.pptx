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C2B2"/>
                </a:solidFill>
              </a:rPr>
              <a:t>TravelBench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CCD5E0"/>
                </a:solidFill>
              </a:rPr>
              <a:t>A Multi-Difficulty Benchmark for ReAct Travel Planning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CS 498 AI Agents  ·  Final Presentation  ·  April/May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1  · 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Why Travel Planning?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657600" cy="420624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B2"/>
                </a:solidFill>
              </a:rPr>
              <a:t>🧩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>
                <a:solidFill>
                  <a:srgbClr val="CCD5E0"/>
                </a:solidFill>
              </a:rPr>
              <a:t>Travel planning requires coordinating flights,</a:t>
            </a:r>
          </a:p>
          <a:p>
            <a:pPr>
              <a:spcBef>
                <a:spcPts val="0"/>
              </a:spcBef>
            </a:pPr>
            <a:r>
              <a:rPr sz="1500">
                <a:solidFill>
                  <a:srgbClr val="CCD5E0"/>
                </a:solidFill>
              </a:rPr>
              <a:t>hotels, activities &amp; restaurants under hard</a:t>
            </a:r>
          </a:p>
          <a:p>
            <a:pPr>
              <a:spcBef>
                <a:spcPts val="0"/>
              </a:spcBef>
            </a:pPr>
            <a:r>
              <a:rPr sz="1500">
                <a:solidFill>
                  <a:srgbClr val="CCD5E0"/>
                </a:solidFill>
              </a:rPr>
              <a:t>budget + time constraints — with mid-trip surprises.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600200"/>
            <a:ext cx="3657600" cy="420624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37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B2"/>
                </a:solidFill>
              </a:rPr>
              <a:t>📐  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402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>
                <a:solidFill>
                  <a:srgbClr val="CCD5E0"/>
                </a:solidFill>
              </a:rPr>
              <a:t>Realistic, multi-step domain that exposes</a:t>
            </a:r>
          </a:p>
          <a:p>
            <a:pPr>
              <a:spcBef>
                <a:spcPts val="0"/>
              </a:spcBef>
            </a:pPr>
            <a:r>
              <a:rPr sz="1500">
                <a:solidFill>
                  <a:srgbClr val="CCD5E0"/>
                </a:solidFill>
              </a:rPr>
              <a:t>LLM planning failures: hallucination, loop,</a:t>
            </a:r>
          </a:p>
          <a:p>
            <a:pPr>
              <a:spcBef>
                <a:spcPts val="0"/>
              </a:spcBef>
            </a:pPr>
            <a:r>
              <a:rPr sz="1500">
                <a:solidFill>
                  <a:srgbClr val="CCD5E0"/>
                </a:solidFill>
              </a:rPr>
              <a:t>budget drift, and replanning breakdown.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600200"/>
            <a:ext cx="3657600" cy="420624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37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B2"/>
                </a:solidFill>
              </a:rPr>
              <a:t>🎯  Our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402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>
                <a:solidFill>
                  <a:srgbClr val="CCD5E0"/>
                </a:solidFill>
              </a:rPr>
              <a:t>TravelBench: 21 graded tasks (easy/medium/hard)</a:t>
            </a:r>
          </a:p>
          <a:p>
            <a:pPr>
              <a:spcBef>
                <a:spcPts val="0"/>
              </a:spcBef>
            </a:pPr>
            <a:r>
              <a:rPr sz="1500">
                <a:solidFill>
                  <a:srgbClr val="CCD5E0"/>
                </a:solidFill>
              </a:rPr>
              <a:t>+ a ReAct agent evaluated by an LLM judge</a:t>
            </a:r>
          </a:p>
          <a:p>
            <a:pPr>
              <a:spcBef>
                <a:spcPts val="0"/>
              </a:spcBef>
            </a:pPr>
            <a:r>
              <a:rPr sz="1500">
                <a:solidFill>
                  <a:srgbClr val="CCD5E0"/>
                </a:solidFill>
              </a:rPr>
              <a:t>across 5 structured dimensions.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2  ·  Benchmark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TravelBench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2743200" cy="13716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2B2"/>
                </a:solidFill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5E0"/>
                </a:solidFill>
              </a:rPr>
              <a:t>Tasks total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600200"/>
            <a:ext cx="2743200" cy="13716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6459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2B2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5E0"/>
                </a:solidFill>
              </a:rPr>
              <a:t>Difficulty tiers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2743200" cy="13716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6459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2B2"/>
                </a:solidFill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5E0"/>
                </a:solidFill>
              </a:rPr>
              <a:t>Destination cities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600200"/>
            <a:ext cx="2743200" cy="13716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6459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2B2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5E0"/>
                </a:solidFill>
              </a:rPr>
              <a:t>Mock data 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46120"/>
            <a:ext cx="3657600" cy="256032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246120"/>
            <a:ext cx="54864" cy="2560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37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🟢  Easy  (5 tasks)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947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>
                <a:solidFill>
                  <a:srgbClr val="CCD5E0"/>
                </a:solidFill>
              </a:rPr>
              <a:t>Single destination · no dynamic events</a:t>
            </a:r>
          </a:p>
          <a:p>
            <a:pPr>
              <a:spcBef>
                <a:spcPts val="0"/>
              </a:spcBef>
            </a:pPr>
            <a:r>
              <a:rPr sz="1500">
                <a:solidFill>
                  <a:srgbClr val="CCD5E0"/>
                </a:solidFill>
              </a:rPr>
              <a:t>Basic budget + date constraints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246120"/>
            <a:ext cx="3657600" cy="256032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246120"/>
            <a:ext cx="54864" cy="2560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337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🟡  Medium  (10 tasks)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7947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>
                <a:solidFill>
                  <a:srgbClr val="CCD5E0"/>
                </a:solidFill>
              </a:rPr>
              <a:t>Single destination + 1 dynamic event</a:t>
            </a:r>
          </a:p>
          <a:p>
            <a:pPr>
              <a:spcBef>
                <a:spcPts val="0"/>
              </a:spcBef>
            </a:pPr>
            <a:r>
              <a:rPr sz="1500">
                <a:solidFill>
                  <a:srgbClr val="CCD5E0"/>
                </a:solidFill>
              </a:rPr>
              <a:t>Replanning: hotel swap, budget cut, cancellation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246120"/>
            <a:ext cx="3657600" cy="256032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246120"/>
            <a:ext cx="54864" cy="2560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337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74C3C"/>
                </a:solidFill>
              </a:rPr>
              <a:t>🔴  Hard  (6 tasks)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7947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>
                <a:solidFill>
                  <a:srgbClr val="CCD5E0"/>
                </a:solidFill>
              </a:rPr>
              <a:t>Multi-city + 1–2 complex events</a:t>
            </a:r>
          </a:p>
          <a:p>
            <a:pPr>
              <a:spcBef>
                <a:spcPts val="0"/>
              </a:spcBef>
            </a:pPr>
            <a:r>
              <a:rPr sz="1500">
                <a:solidFill>
                  <a:srgbClr val="CCD5E0"/>
                </a:solidFill>
              </a:rPr>
              <a:t>Cascading replanning, weather, group logistics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2  ·  Benchmark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Example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657600" cy="45720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2B2"/>
                </a:solidFill>
              </a:rPr>
              <a:t>🟢  Easy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700"/>
                </a:solidFill>
              </a:rPr>
              <a:t>Detroit → Chicago  ·  $300  ·  2 nights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▸ 1 traveler (student)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▸ Interests: live music, local food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▸ Required: hotel_2_nights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▸ No dynamic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00200"/>
            <a:ext cx="3657600" cy="45720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2B2"/>
                </a:solidFill>
              </a:rPr>
              <a:t>🟡  Medium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57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700"/>
                </a:solidFill>
              </a:rPr>
              <a:t>Denver → San Diego  ·  $4,500  ·  5 nights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5146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▸ Family of 4 · wheelchair user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▸ Hotel unavailable mid-planning (turn 5)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▸ Must find accessible alternative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▸ beach_activities_min_2  +  5 restaurants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00200"/>
            <a:ext cx="3657600" cy="45720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2B2"/>
                </a:solidFill>
              </a:rPr>
              <a:t>🔴  Hard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57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700"/>
                </a:solidFill>
              </a:rPr>
              <a:t>NYC → Anchorage + Fairbanks  ·  $3,500  ·  8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51460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▸ Solo adventure traveler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▸ Glacier kayaking cancelled (weather, turn 8)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▸ Must choose between 3 replan options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▸ 3 hard constraints: glaciers + lights + wildlife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3  ·  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ReAct Agent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1737360" cy="77724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Task 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011680"/>
            <a:ext cx="1737360" cy="7772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05740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THOUGHT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011680"/>
            <a:ext cx="1737360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5740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011680"/>
            <a:ext cx="1737360" cy="777240"/>
          </a:xfrm>
          <a:prstGeom prst="rect">
            <a:avLst/>
          </a:prstGeom>
          <a:solidFill>
            <a:srgbClr val="009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OBSERVATION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2011680"/>
            <a:ext cx="1737360" cy="777240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05740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Final
Itinerary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1488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2B2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488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2B2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488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2B2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1488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2B2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5E0"/>
                </a:solidFill>
              </a:rPr>
              <a:t>↩  loop until all components satisfied or max_iter=50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474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B2"/>
                </a:solidFill>
              </a:rPr>
              <a:t>Tools  (mock JSON data — 4 domains)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2194560" cy="4572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9319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5E0"/>
                </a:solidFill>
              </a:rPr>
              <a:t>search_flights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79" y="3886200"/>
            <a:ext cx="2194560" cy="4572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70631" y="39319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5E0"/>
                </a:solidFill>
              </a:rPr>
              <a:t>book_flight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3886200"/>
            <a:ext cx="2194560" cy="4572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39319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5E0"/>
                </a:solidFill>
              </a:rPr>
              <a:t>search_hotels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19" y="3886200"/>
            <a:ext cx="2194560" cy="4572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4071" y="39319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5E0"/>
                </a:solidFill>
              </a:rPr>
              <a:t>book_hotel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3886200"/>
            <a:ext cx="2194560" cy="4572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5792" y="39319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5E0"/>
                </a:solidFill>
              </a:rPr>
              <a:t>search_restaurants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453128"/>
            <a:ext cx="2194560" cy="4572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44988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5E0"/>
                </a:solidFill>
              </a:rPr>
              <a:t>book_restaurant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7479" y="4453128"/>
            <a:ext cx="2194560" cy="4572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70631" y="44988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5E0"/>
                </a:solidFill>
              </a:rPr>
              <a:t>search_activities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0" y="4453128"/>
            <a:ext cx="2194560" cy="4572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02352" y="44988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5E0"/>
                </a:solidFill>
              </a:rPr>
              <a:t>book_activity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19" y="4453128"/>
            <a:ext cx="2194560" cy="4572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34071" y="44988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5E0"/>
                </a:solidFill>
              </a:rPr>
              <a:t>cancel_hotel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92640" y="4453128"/>
            <a:ext cx="2194560" cy="45720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65792" y="44988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5E0"/>
                </a:solidFill>
              </a:rPr>
              <a:t>cancel_flight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3  ·  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Key Engineering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657600" cy="219456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B2"/>
                </a:solidFill>
              </a:rPr>
              <a:t>Constraint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ConstraintTracker class holds hard/soft constraints.</a:t>
            </a:r>
          </a:p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Budget remaining recomputed live before every search.</a:t>
            </a:r>
          </a:p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Booking objects stored in tracker.bookings list.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600200"/>
            <a:ext cx="3657600" cy="219456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B2"/>
                </a:solidFill>
              </a:rPr>
              <a:t>Message Windowing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4884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Context = first user message + last 8 messages.</a:t>
            </a:r>
          </a:p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Prevents token blow-up on long itineraries.</a:t>
            </a:r>
          </a:p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Booking state injected fresh every turn.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600200"/>
            <a:ext cx="3657600" cy="219456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B2"/>
                </a:solidFill>
              </a:rPr>
              <a:t>Dynamic Event Firing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4884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Events carry trigger_turn; fired in both action</a:t>
            </a:r>
          </a:p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and non-action branches to prevent skipping.</a:t>
            </a:r>
          </a:p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Auto-cancels affected bookings before replanning prompt.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3657600" cy="219456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690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B2"/>
                </a:solidFill>
              </a:rPr>
              <a:t>Required-Component Nudge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26279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STILL NEEDED checklist injected mid-conversation.</a:t>
            </a:r>
          </a:p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Booking order enforced: flights → hotel → activities → restaurants.</a:t>
            </a:r>
          </a:p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Early stop when all components + hard constraints satisfied.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3977639"/>
            <a:ext cx="3657600" cy="219456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0690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B2"/>
                </a:solidFill>
              </a:rPr>
              <a:t>Streaming + Early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526279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Stream response token-by-token.</a:t>
            </a:r>
          </a:p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Break as soon as complete ACTION(...) line detected.</a:t>
            </a:r>
          </a:p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Reduces median latency without downgrading model.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977639"/>
            <a:ext cx="3657600" cy="219456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0690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B2"/>
                </a:solidFill>
              </a:rPr>
              <a:t>LLM Judge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526279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claude-sonnet-4-6 evaluates 5 dimensions.</a:t>
            </a:r>
          </a:p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Weights: hard 30 · required 25 · soft 15 · replan 20 · coherence 10.</a:t>
            </a:r>
          </a:p>
          <a:p>
            <a:pPr>
              <a:spcBef>
                <a:spcPts val="0"/>
              </a:spcBef>
            </a:pPr>
            <a:r>
              <a:rPr sz="1350">
                <a:solidFill>
                  <a:srgbClr val="CCD5E0"/>
                </a:solidFill>
              </a:rPr>
              <a:t>· Batch mode: auto-discovers .md outputs, prefers over .json.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4  ·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Pass / Fail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8686800" cy="41148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2B2"/>
                </a:solidFill>
              </a:rPr>
              <a:t>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642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2B2"/>
                </a:solidFill>
              </a:rPr>
              <a:t>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6642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2B2"/>
                </a:solidFill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6642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2B2"/>
                </a:solidFill>
              </a:rPr>
              <a:t>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6642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2B2"/>
                </a:solidFill>
              </a:rPr>
              <a:t>Avg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6642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2B2"/>
                </a:solidFill>
              </a:rPr>
              <a:t>Avg 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8686800" cy="54864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148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148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1488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CC71"/>
                </a:solidFill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148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~152s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48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~23k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97479"/>
            <a:ext cx="8686800" cy="548640"/>
          </a:xfrm>
          <a:prstGeom prst="rect">
            <a:avLst/>
          </a:prstGeom>
          <a:solidFill>
            <a:srgbClr val="222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19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743199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743199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74319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CC71"/>
                </a:solidFill>
              </a:rPr>
              <a:t> 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74319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~203s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74319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~27k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91839"/>
            <a:ext cx="8686800" cy="548640"/>
          </a:xfrm>
          <a:prstGeom prst="rect">
            <a:avLst/>
          </a:prstGeom>
          <a:solidFill>
            <a:srgbClr val="1E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3375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337559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337559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33755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CC71"/>
                </a:solidFill>
              </a:rPr>
              <a:t> 67%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33755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~272s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33755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~26k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886200"/>
            <a:ext cx="8686800" cy="548640"/>
          </a:xfrm>
          <a:prstGeom prst="rect">
            <a:avLst/>
          </a:prstGeom>
          <a:solidFill>
            <a:srgbClr val="10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931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</a:rPr>
              <a:t>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39319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</a:rPr>
              <a:t>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39319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</a:rPr>
              <a:t>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931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</a:rPr>
              <a:t>  81%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</a:rPr>
              <a:t>~209s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931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</a:rPr>
              <a:t>~26k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1600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B2"/>
                </a:solidFill>
              </a:rPr>
              <a:t>Key Takeaways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10312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D5E0"/>
                </a:solidFill>
              </a:rPr>
              <a:t>✅ All 5 easy tasks pass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5E0"/>
                </a:solidFill>
              </a:rPr>
              <a:t>⚠️  Medium failures:
   budget drift + missing
   beach activities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5E0"/>
                </a:solidFill>
              </a:rPr>
              <a:t>❌  Hard failures:
   group capacity (hard5)
   restaurant loops (hard6)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5E0"/>
                </a:solidFill>
              </a:rPr>
              <a:t>⏱  Hard tasks use 50
   calls at iteration cap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D5E0"/>
                </a:solidFill>
              </a:rPr>
              <a:t>💡  81% overall pass
   rate on first attempt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4  ·  Results —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ECC71"/>
                </a:solidFill>
              </a:rPr>
              <a:t>Hard 1: Alaska Adventure 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5E0"/>
                </a:solidFill>
              </a:rPr>
              <a:t>NYC → Anchorage + Fairbanks  ·  8 days  ·  $3,500 budget  ·  23 API calls  ·  134s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600">
                <a:solidFill>
                  <a:srgbClr val="CCD5E0"/>
                </a:solidFill>
              </a:rPr>
              <a:t>✈  Booked JFK→ANC outbound + FAI→JFK return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CCD5E0"/>
                </a:solidFill>
              </a:rPr>
              <a:t>🏨  Anchorage hotel (3 nights) + Fairbanks hotel (4 nights)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CCD5E0"/>
                </a:solidFill>
              </a:rPr>
              <a:t>🧊  Glacier kayaking booked (Day 3)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CCD5E0"/>
                </a:solidFill>
              </a:rPr>
              <a:t>⚠️  Turn 8: DYNAMIC EVENT — glacier tour cancelled (weather)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CCD5E0"/>
                </a:solidFill>
              </a:rPr>
              <a:t>🔄  Agent chose Option 2: Matanuska Glacier hiking substitute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CCD5E0"/>
                </a:solidFill>
              </a:rPr>
              <a:t>      Kept Fairbanks transfer intact; northern lights schedule preserved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CCD5E0"/>
                </a:solidFill>
              </a:rPr>
              <a:t>🌌  2× northern lights tours booked in Fairbanks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CCD5E0"/>
                </a:solidFill>
              </a:rPr>
              <a:t>🐻  Wildlife viewing + Denali day trip booked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CCD5E0"/>
                </a:solidFill>
              </a:rPr>
              <a:t>💰  Total: $3,380 / $3,500 — all hard constraints met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00200"/>
            <a:ext cx="4297680" cy="493776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What went 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945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CCD5E0"/>
                </a:solidFill>
              </a:rPr>
              <a:t>· Dynamic event fired exactly at trigger_turn 8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5E0"/>
                </a:solidFill>
              </a:rPr>
              <a:t>· Cancelled glacier_kayaking booking automatically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5E0"/>
                </a:solidFill>
              </a:rPr>
              <a:t>· Chose hiking substitute (not skip) to preserve
  'must_see_glaciers' hard constraint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5E0"/>
                </a:solidFill>
              </a:rPr>
              <a:t>· Anchorage departure timing recalculated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5E0"/>
                </a:solidFill>
              </a:rPr>
              <a:t>· Fairbanks hotel check-in unchanged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CD5E0"/>
                </a:solidFill>
              </a:rPr>
              <a:t>· Unaffected bookings (flights, restaurants)
fully preserved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4  ·  Results —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74C3C"/>
                </a:solidFill>
              </a:rPr>
              <a:t>Easy 1: Budget Confusion  ❌  (partial)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5E0"/>
                </a:solidFill>
              </a:rPr>
              <a:t>Detroit → Chicago  ·  $300 budget  ·  1 student  ·  8 API calls  ·  119s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600">
                <a:solidFill>
                  <a:srgbClr val="CCD5E0"/>
                </a:solidFill>
              </a:rPr>
              <a:t>Required components: hotel_2_nights only (no flights required by spec)</a:t>
            </a:r>
          </a:p>
          <a:p>
            <a:pPr>
              <a:spcBef>
                <a:spcPts val="100"/>
              </a:spcBef>
            </a:pPr>
            <a:r>
              <a:rPr sz="1600">
                <a:solidFill>
                  <a:srgbClr val="CCD5E0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600">
                <a:solidFill>
                  <a:srgbClr val="CCD5E0"/>
                </a:solidFill>
              </a:rPr>
              <a:t>❌  Booking order violated: activity → restaurant → restaurant → hotel</a:t>
            </a:r>
          </a:p>
          <a:p>
            <a:pPr>
              <a:spcBef>
                <a:spcPts val="100"/>
              </a:spcBef>
            </a:pPr>
            <a:r>
              <a:rPr sz="1600">
                <a:solidFill>
                  <a:srgbClr val="CCD5E0"/>
                </a:solidFill>
              </a:rPr>
              <a:t>❌  Agent spent $212 of $300 and halted with $88 unused</a:t>
            </a:r>
          </a:p>
          <a:p>
            <a:pPr>
              <a:spcBef>
                <a:spcPts val="100"/>
              </a:spcBef>
            </a:pPr>
            <a:r>
              <a:rPr sz="1600">
                <a:solidFill>
                  <a:srgbClr val="CCD5E0"/>
                </a:solidFill>
              </a:rPr>
              <a:t>❌  Flagged flights as 'MISSING REQUIRED COMPONENT'</a:t>
            </a:r>
          </a:p>
          <a:p>
            <a:pPr>
              <a:spcBef>
                <a:spcPts val="100"/>
              </a:spcBef>
            </a:pPr>
            <a:r>
              <a:rPr sz="1600">
                <a:solidFill>
                  <a:srgbClr val="CCD5E0"/>
                </a:solidFill>
              </a:rPr>
              <a:t>     … but flights were NOT in required_components</a:t>
            </a:r>
          </a:p>
          <a:p>
            <a:pPr>
              <a:spcBef>
                <a:spcPts val="100"/>
              </a:spcBef>
            </a:pPr>
            <a:r>
              <a:rPr sz="1600">
                <a:solidFill>
                  <a:srgbClr val="CCD5E0"/>
                </a:solidFill>
              </a:rPr>
              <a:t>❌  Self-contradictory output: JSON success=true,</a:t>
            </a:r>
          </a:p>
          <a:p>
            <a:pPr>
              <a:spcBef>
                <a:spcPts val="100"/>
              </a:spcBef>
            </a:pPr>
            <a:r>
              <a:rPr sz="1600">
                <a:solidFill>
                  <a:srgbClr val="CCD5E0"/>
                </a:solidFill>
              </a:rPr>
              <a:t>     itinerary says ❌ MISSING REQUIRED COMPONENT</a:t>
            </a:r>
          </a:p>
          <a:p>
            <a:pPr>
              <a:spcBef>
                <a:spcPts val="100"/>
              </a:spcBef>
            </a:pPr>
            <a:r>
              <a:rPr sz="1600">
                <a:solidFill>
                  <a:srgbClr val="CCD5E0"/>
                </a:solidFill>
              </a:rPr>
              <a:t/>
            </a:r>
          </a:p>
          <a:p>
            <a:pPr>
              <a:spcBef>
                <a:spcPts val="100"/>
              </a:spcBef>
            </a:pPr>
            <a:r>
              <a:rPr sz="1600">
                <a:solidFill>
                  <a:srgbClr val="CCD5E0"/>
                </a:solidFill>
              </a:rPr>
              <a:t>✅  Hotel_2_nights technically booked</a:t>
            </a:r>
          </a:p>
          <a:p>
            <a:pPr>
              <a:spcBef>
                <a:spcPts val="100"/>
              </a:spcBef>
            </a:pPr>
            <a:r>
              <a:rPr sz="1600">
                <a:solidFill>
                  <a:srgbClr val="CCD5E0"/>
                </a:solidFill>
              </a:rPr>
              <a:t>✅  Budget not exceeded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00200"/>
            <a:ext cx="4297680" cy="493776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</a:rPr>
              <a:t>Root causes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945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CCD5E0"/>
                </a:solidFill>
              </a:rPr>
              <a:t>· System prompt books flights first but task spec
  didn't require them — agent over-generalized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CCD5E0"/>
                </a:solidFill>
              </a:rPr>
              <a:t>· Budget nudge only fires when amount is near zero,
  not when components are missing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CCD5E0"/>
                </a:solidFill>
              </a:rPr>
              <a:t>· Required-component checklist not cross-checked
  against task spec at summary time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CCD5E0"/>
                </a:solidFill>
              </a:rPr>
              <a:t>· Amtrak was viable ($30-40 one way) but agent
  never attempted non-flight transport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4  ·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What We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657600" cy="224028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B2"/>
                </a:solidFill>
              </a:rPr>
              <a:t>📈  Difficulty scales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· Easy 100% → Medium 80% → Hard 67%.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· Gradient is meaningful: each tier breaks a different capability.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600200"/>
            <a:ext cx="3657600" cy="224028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B2"/>
                </a:solidFill>
              </a:rPr>
              <a:t>🔁  Loops are the top 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945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· Hard 5/6 hit iteration cap (50 calls) on group-capacity or restaurant loops.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· Streaming + early-stop helped but doesn't prevent reasoning loops.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600200"/>
            <a:ext cx="3657600" cy="224028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B2"/>
                </a:solidFill>
              </a:rPr>
              <a:t>🏖  Proximity ≠ 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· Agent claims beach constraint satisfied via 'hotel 0.3 mi from beach'.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· Required-component check must verify a booking_id exists, not prose.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23360"/>
            <a:ext cx="3657600" cy="224028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B2"/>
                </a:solidFill>
              </a:rPr>
              <a:t>🔄  Replanning is mostly reliable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177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· 8 of 10 medium tasks handled dynamic events correctly.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· Unaffected bookings (flights) preserved in all observed cases.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023360"/>
            <a:ext cx="3657600" cy="224028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B2"/>
                </a:solidFill>
              </a:rPr>
              <a:t>⏱  Token cost grows with complexity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6177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· Easy: ~23k tokens · Medium: ~27k · Hard: ~26k (windowing helps).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· Hard tasks that fail cost 2× tokens — loops are expensive.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4023360"/>
            <a:ext cx="3657600" cy="224028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B2"/>
                </a:solidFill>
              </a:rPr>
              <a:t>⚖️  LLM judge is consistent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6177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· JSON output schema + 4096 token limit keeps judge stable.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· Dimension weights (hard 30%, replan 20%) align with task intent.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2"/>
                </a:solidFill>
              </a:rPr>
              <a:t>5  ·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Takeaways, Limits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657600" cy="484632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657600" cy="54864"/>
          </a:xfrm>
          <a:prstGeom prst="rect">
            <a:avLst/>
          </a:prstGeom>
          <a:solidFill>
            <a:srgbClr val="00C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B2"/>
                </a:solidFill>
              </a:rPr>
              <a:t>✅  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TravelBench is a reproducible, graded benchmark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covering planning, budget, accessibility, and replanning.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/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ReAct agent achieves 81% pass rate (17/21).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Dynamic event handling is reliable for single-city tasks.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/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LLM-as-judge + structured dimensions enables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objective, automated evaluation at scale.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00200"/>
            <a:ext cx="3657600" cy="484632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600200"/>
            <a:ext cx="3657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⚠️ 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Mock data — no live flight/hotel APIs.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Single LLM judge may share biases with agent.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Booking-order enforcement is prompt-level,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  not structural — can be overridden by model.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/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'Proximity ≠ booking' gap in constraint checker.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No multi-agent or tool-use parallelism.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00200"/>
            <a:ext cx="3657600" cy="4846320"/>
          </a:xfrm>
          <a:prstGeom prst="rect">
            <a:avLst/>
          </a:prstGeom>
          <a:solidFill>
            <a:srgbClr val="25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00200"/>
            <a:ext cx="36576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🚀  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4028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Live API integration (Skyscanner, Booking.com).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Structural required-component verification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  (check booking_id exists, not prose).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/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Parallel tool calls to reduce latency.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Multi-agent: planner + critic roles.</a:t>
            </a:r>
          </a:p>
          <a:p>
            <a:pPr>
              <a:spcBef>
                <a:spcPts val="0"/>
              </a:spcBef>
            </a:pPr>
            <a:r>
              <a:rPr sz="1400">
                <a:solidFill>
                  <a:srgbClr val="CCD5E0"/>
                </a:solidFill>
              </a:rPr>
              <a:t>Extend to 50+ tasks across more domains.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